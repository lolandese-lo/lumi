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267" r:id="rId5"/>
    <p:sldId id="268" r:id="rId6"/>
    <p:sldId id="266" r:id="rId7"/>
    <p:sldId id="269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/>
  <p:notesSz cx="8229600" cy="14630400"/>
  <p:embeddedFontLst>
    <p:embeddedFont>
      <p:font typeface="Heebo Bold" pitchFamily="2" charset="-79"/>
      <p:bold r:id="rId17"/>
    </p:embeddedFont>
    <p:embeddedFont>
      <p:font typeface="Heebo Light" pitchFamily="2" charset="-79"/>
      <p:regular r:id="rId18"/>
    </p:embeddedFont>
    <p:embeddedFont>
      <p:font typeface="Heebo Medium" pitchFamily="2" charset="-79"/>
      <p:regular r:id="rId19"/>
    </p:embeddedFont>
    <p:embeddedFont>
      <p:font typeface="Montserrat" panose="000005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15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4E3F-C005-3500-9E44-80545CCE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42A8D-A1D2-51EE-D539-B51FC27BD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2C469-B1D8-EC07-04D3-0B83ADC79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0A251-EFB9-5CC9-BC27-C4373244B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22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A143-50B8-BD39-D385-8CE0765C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C60BE-3042-26DB-6393-A8A8F9F8A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EBAA5-C22E-AE58-06B3-43F2651A0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512C9-B104-C9C4-4543-561F21C24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47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6C23-555F-627A-3011-861A9EFB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095C9-EDCF-752C-E6FE-241C1A8A9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35C55-61CE-D94F-42FA-22E35E68F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1C92-6C95-F132-67BD-089D9A137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0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7D8B-4B61-5945-2977-BAFDC4A9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7E52E-7D2B-35A6-65AA-179E9D2B4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964F9-BE41-6E6E-7E27-7CB154ED0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649C-95BF-9502-8C8D-F93D66D3D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EBBB-1C9C-1642-AA4A-2DC8DA30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59EE8-EA42-2500-72F1-C52A86E3C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022A1-0772-45C8-AF6A-B7EB358A5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031B0-CA44-0756-20C5-B40730CE1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63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Lumi: AI-Powered Home Automation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Intelligent Assistant for Smart Home Control.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21116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2D2629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3300" y="5253752"/>
            <a:ext cx="11668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LO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104209"/>
            <a:ext cx="249614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 Landin Olandese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D6A370-C80B-53A5-E315-EF8D000A4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12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</a:rPr>
              <a:t>Agenda :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8777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26178" y="3519367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 Solution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26791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4267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</a:rPr>
              <a:t>Block Diagram and Demo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64721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Initial Design &amp; Current status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34804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534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66773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Hands-free control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642818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24695" y="6428184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Plans 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737151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capabilities 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EE13-9A33-5EA8-39CD-40C1C06A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E2EF3B4-6DD8-0BE2-3997-652F57ED5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879D95-ED33-E0C4-2A89-3B959485519F}"/>
              </a:ext>
            </a:extLst>
          </p:cNvPr>
          <p:cNvSpPr/>
          <p:nvPr/>
        </p:nvSpPr>
        <p:spPr>
          <a:xfrm>
            <a:off x="793790" y="7212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</a:rPr>
              <a:t>Agenda :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704D9F8-0973-154D-DBE1-0352461DB2F8}"/>
              </a:ext>
            </a:extLst>
          </p:cNvPr>
          <p:cNvSpPr/>
          <p:nvPr/>
        </p:nvSpPr>
        <p:spPr>
          <a:xfrm>
            <a:off x="793790" y="318777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8960E0B-6BC8-B8AB-2383-35A6B788A926}"/>
              </a:ext>
            </a:extLst>
          </p:cNvPr>
          <p:cNvSpPr/>
          <p:nvPr/>
        </p:nvSpPr>
        <p:spPr>
          <a:xfrm>
            <a:off x="1303973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</a:rPr>
              <a:t>Problem statement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E2D07B-C7BA-1227-5931-BF5683A6DEAA}"/>
              </a:ext>
            </a:extLst>
          </p:cNvPr>
          <p:cNvSpPr/>
          <p:nvPr/>
        </p:nvSpPr>
        <p:spPr>
          <a:xfrm>
            <a:off x="1326178" y="3519367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And Solution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4A842F3-F63D-49E0-CF22-A5A44499CB64}"/>
              </a:ext>
            </a:extLst>
          </p:cNvPr>
          <p:cNvSpPr/>
          <p:nvPr/>
        </p:nvSpPr>
        <p:spPr>
          <a:xfrm>
            <a:off x="1133951" y="426791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4D08D73-5DC1-BE0B-D470-37535BEA1A8A}"/>
              </a:ext>
            </a:extLst>
          </p:cNvPr>
          <p:cNvSpPr/>
          <p:nvPr/>
        </p:nvSpPr>
        <p:spPr>
          <a:xfrm>
            <a:off x="1644134" y="4267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</a:rPr>
              <a:t>Block Diagram and Demo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4F509AD-AD75-9B6D-E9CE-664F47A75EF7}"/>
              </a:ext>
            </a:extLst>
          </p:cNvPr>
          <p:cNvSpPr/>
          <p:nvPr/>
        </p:nvSpPr>
        <p:spPr>
          <a:xfrm>
            <a:off x="1644134" y="464721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Initial Design &amp; Current status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2A38C2A-DC9B-928F-1764-67508094A9FD}"/>
              </a:ext>
            </a:extLst>
          </p:cNvPr>
          <p:cNvSpPr/>
          <p:nvPr/>
        </p:nvSpPr>
        <p:spPr>
          <a:xfrm>
            <a:off x="1474232" y="534804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2854D94-7B36-1D87-34C0-1B25B27361AF}"/>
              </a:ext>
            </a:extLst>
          </p:cNvPr>
          <p:cNvSpPr/>
          <p:nvPr/>
        </p:nvSpPr>
        <p:spPr>
          <a:xfrm>
            <a:off x="1984415" y="534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BD5067A-6242-B2D9-CDF8-5E3FF214F2A5}"/>
              </a:ext>
            </a:extLst>
          </p:cNvPr>
          <p:cNvSpPr/>
          <p:nvPr/>
        </p:nvSpPr>
        <p:spPr>
          <a:xfrm>
            <a:off x="1984415" y="566773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Hands-free control</a:t>
            </a:r>
            <a:endParaRPr lang="en-US" sz="17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93FF203-6FFE-1D43-0B96-18AE29189FCA}"/>
              </a:ext>
            </a:extLst>
          </p:cNvPr>
          <p:cNvSpPr/>
          <p:nvPr/>
        </p:nvSpPr>
        <p:spPr>
          <a:xfrm>
            <a:off x="1814513" y="642818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32BD63C-93BE-28BA-82B4-3F392259FC05}"/>
              </a:ext>
            </a:extLst>
          </p:cNvPr>
          <p:cNvSpPr/>
          <p:nvPr/>
        </p:nvSpPr>
        <p:spPr>
          <a:xfrm>
            <a:off x="2324695" y="6428184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Plans 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3375EC5-C419-3A41-3346-6CF1CA5BA2D6}"/>
              </a:ext>
            </a:extLst>
          </p:cNvPr>
          <p:cNvSpPr/>
          <p:nvPr/>
        </p:nvSpPr>
        <p:spPr>
          <a:xfrm>
            <a:off x="2324695" y="6737151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capabilities </a:t>
            </a:r>
            <a:endParaRPr lang="en-US" sz="175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69A12DB-07EB-4094-E6E6-DE2CC0B33C5A}"/>
              </a:ext>
            </a:extLst>
          </p:cNvPr>
          <p:cNvSpPr/>
          <p:nvPr/>
        </p:nvSpPr>
        <p:spPr>
          <a:xfrm>
            <a:off x="333241" y="217574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88C437B-59BD-2577-8BAE-70B4C9CE55FD}"/>
              </a:ext>
            </a:extLst>
          </p:cNvPr>
          <p:cNvSpPr/>
          <p:nvPr/>
        </p:nvSpPr>
        <p:spPr>
          <a:xfrm>
            <a:off x="843424" y="2175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DCD7E5"/>
                </a:solidFill>
                <a:latin typeface="Montserrat" pitchFamily="34" charset="0"/>
              </a:rPr>
              <a:t>Intro</a:t>
            </a:r>
            <a:endParaRPr lang="en-US" sz="2200" b="1" dirty="0">
              <a:solidFill>
                <a:srgbClr val="DCD7E5"/>
              </a:solidFill>
              <a:latin typeface="Montserrat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8052207-316A-63C7-FBF6-EFB1C9B6CAD2}"/>
              </a:ext>
            </a:extLst>
          </p:cNvPr>
          <p:cNvSpPr/>
          <p:nvPr/>
        </p:nvSpPr>
        <p:spPr>
          <a:xfrm>
            <a:off x="865629" y="250733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About me, and this project</a:t>
            </a:r>
          </a:p>
        </p:txBody>
      </p:sp>
    </p:spTree>
    <p:extLst>
      <p:ext uri="{BB962C8B-B14F-4D97-AF65-F5344CB8AC3E}">
        <p14:creationId xmlns:p14="http://schemas.microsoft.com/office/powerpoint/2010/main" val="206434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0B06-F45F-5E00-2CCA-58B71CBE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877016-506A-04B9-087E-499E2F9A2D81}"/>
              </a:ext>
            </a:extLst>
          </p:cNvPr>
          <p:cNvSpPr/>
          <p:nvPr/>
        </p:nvSpPr>
        <p:spPr>
          <a:xfrm>
            <a:off x="532532" y="60850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Background: </a:t>
            </a:r>
            <a:endParaRPr lang="en-US" sz="4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8ABC00-93D9-8E51-307D-FCA3E3B2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5C535D3C-A4A6-9250-0066-8BBCD00E1243}"/>
              </a:ext>
            </a:extLst>
          </p:cNvPr>
          <p:cNvSpPr/>
          <p:nvPr/>
        </p:nvSpPr>
        <p:spPr>
          <a:xfrm>
            <a:off x="793789" y="1712343"/>
            <a:ext cx="12781564" cy="555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My name is Landin, I studied Electrical Engineering at Oklahoma State University.</a:t>
            </a:r>
          </a:p>
          <a:p>
            <a:pPr marL="0" indent="0">
              <a:lnSpc>
                <a:spcPts val="2750"/>
              </a:lnSpc>
              <a:buNone/>
            </a:pPr>
            <a:endParaRPr lang="en-US" sz="1600" dirty="0">
              <a:solidFill>
                <a:srgbClr val="F2F0F4"/>
              </a:solidFill>
              <a:latin typeface="Montserrat" pitchFamily="34" charset="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As a young kid, I was very curious about how the world worked. This manifested itself in my interest in taking things 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apart - electronics mostly, and trying to build and automate things with them.</a:t>
            </a:r>
          </a:p>
          <a:p>
            <a:pPr marL="0" indent="0">
              <a:lnSpc>
                <a:spcPts val="2750"/>
              </a:lnSpc>
              <a:buNone/>
            </a:pPr>
            <a:endParaRPr lang="en-US" sz="1600" dirty="0">
              <a:solidFill>
                <a:srgbClr val="F2F0F4"/>
              </a:solidFill>
              <a:latin typeface="Montserrat" pitchFamily="34" charset="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This presentation covers a project I've been excited about working on for the past few years, but just recently have been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able to allocate more time to.</a:t>
            </a:r>
          </a:p>
          <a:p>
            <a:pPr marL="0" indent="0">
              <a:lnSpc>
                <a:spcPts val="2750"/>
              </a:lnSpc>
              <a:buNone/>
            </a:pPr>
            <a:endParaRPr lang="en-US" sz="1600" dirty="0">
              <a:solidFill>
                <a:srgbClr val="F2F0F4"/>
              </a:solidFill>
              <a:latin typeface="Montserrat" pitchFamily="34" charset="0"/>
            </a:endParaRPr>
          </a:p>
          <a:p>
            <a:pPr marL="0" indent="0">
              <a:lnSpc>
                <a:spcPts val="275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</a:rPr>
              <a:t>The following showcases a home automation system I've implemented in my home, with AI governing and controlling it.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3499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EEB2-C752-50B9-AC44-601035FC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C62728-690E-E073-2825-7AEE45798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001DA60-DBB1-E489-A4CC-148C9722DFFC}"/>
              </a:ext>
            </a:extLst>
          </p:cNvPr>
          <p:cNvSpPr/>
          <p:nvPr/>
        </p:nvSpPr>
        <p:spPr>
          <a:xfrm>
            <a:off x="793790" y="7212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</a:rPr>
              <a:t>Agenda :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4FF7747-F1DB-E7AD-AB07-DA5584DE145D}"/>
              </a:ext>
            </a:extLst>
          </p:cNvPr>
          <p:cNvSpPr/>
          <p:nvPr/>
        </p:nvSpPr>
        <p:spPr>
          <a:xfrm>
            <a:off x="793790" y="318777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103F251-4ABA-C1A6-13E8-4F93B3408B28}"/>
              </a:ext>
            </a:extLst>
          </p:cNvPr>
          <p:cNvSpPr/>
          <p:nvPr/>
        </p:nvSpPr>
        <p:spPr>
          <a:xfrm>
            <a:off x="1303973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DCD7E5"/>
                </a:solidFill>
                <a:latin typeface="Montserrat" pitchFamily="34" charset="0"/>
              </a:rPr>
              <a:t>Problem statement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0FFE91C-0054-91FD-E273-F2369EAC85FF}"/>
              </a:ext>
            </a:extLst>
          </p:cNvPr>
          <p:cNvSpPr/>
          <p:nvPr/>
        </p:nvSpPr>
        <p:spPr>
          <a:xfrm>
            <a:off x="1326178" y="3519367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And Solution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AE3BA23-EF0A-393F-5034-24F24D4EC2DA}"/>
              </a:ext>
            </a:extLst>
          </p:cNvPr>
          <p:cNvSpPr/>
          <p:nvPr/>
        </p:nvSpPr>
        <p:spPr>
          <a:xfrm>
            <a:off x="1133951" y="426791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78D90D-C470-E121-7D83-3247EC1CC598}"/>
              </a:ext>
            </a:extLst>
          </p:cNvPr>
          <p:cNvSpPr/>
          <p:nvPr/>
        </p:nvSpPr>
        <p:spPr>
          <a:xfrm>
            <a:off x="1644134" y="4267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</a:rPr>
              <a:t>Block Diagram and Demo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875B7EE-C436-B1EE-0859-8C7E60F022CA}"/>
              </a:ext>
            </a:extLst>
          </p:cNvPr>
          <p:cNvSpPr/>
          <p:nvPr/>
        </p:nvSpPr>
        <p:spPr>
          <a:xfrm>
            <a:off x="1644134" y="464721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Initial Design &amp; Current status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5DAFC25-B65E-5C2C-FFCB-299F6557958C}"/>
              </a:ext>
            </a:extLst>
          </p:cNvPr>
          <p:cNvSpPr/>
          <p:nvPr/>
        </p:nvSpPr>
        <p:spPr>
          <a:xfrm>
            <a:off x="1474232" y="534804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E652E24-A36A-24BE-9D01-A0A04E61E7AB}"/>
              </a:ext>
            </a:extLst>
          </p:cNvPr>
          <p:cNvSpPr/>
          <p:nvPr/>
        </p:nvSpPr>
        <p:spPr>
          <a:xfrm>
            <a:off x="1984415" y="534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12342DE-94A6-9582-9B2A-68B17A15F0B5}"/>
              </a:ext>
            </a:extLst>
          </p:cNvPr>
          <p:cNvSpPr/>
          <p:nvPr/>
        </p:nvSpPr>
        <p:spPr>
          <a:xfrm>
            <a:off x="1984415" y="566773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Hands-free control</a:t>
            </a:r>
            <a:endParaRPr lang="en-US" sz="17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BBA06D2-994F-9742-3AD5-B2DDB1F5F2AF}"/>
              </a:ext>
            </a:extLst>
          </p:cNvPr>
          <p:cNvSpPr/>
          <p:nvPr/>
        </p:nvSpPr>
        <p:spPr>
          <a:xfrm>
            <a:off x="1814513" y="642818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BFF6E00-AE77-1163-F7D7-611962F10A90}"/>
              </a:ext>
            </a:extLst>
          </p:cNvPr>
          <p:cNvSpPr/>
          <p:nvPr/>
        </p:nvSpPr>
        <p:spPr>
          <a:xfrm>
            <a:off x="2324695" y="6428184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Plans 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AB4CC2B-5651-17FF-A92C-233C826CB463}"/>
              </a:ext>
            </a:extLst>
          </p:cNvPr>
          <p:cNvSpPr/>
          <p:nvPr/>
        </p:nvSpPr>
        <p:spPr>
          <a:xfrm>
            <a:off x="2324695" y="6737151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capabilities </a:t>
            </a:r>
            <a:endParaRPr lang="en-US" sz="175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3252A8E8-D8CC-2764-E924-B3A3ACFCAF49}"/>
              </a:ext>
            </a:extLst>
          </p:cNvPr>
          <p:cNvSpPr/>
          <p:nvPr/>
        </p:nvSpPr>
        <p:spPr>
          <a:xfrm>
            <a:off x="333241" y="217574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1DE1CFE-2E42-738A-F98B-FA2E4A985230}"/>
              </a:ext>
            </a:extLst>
          </p:cNvPr>
          <p:cNvSpPr/>
          <p:nvPr/>
        </p:nvSpPr>
        <p:spPr>
          <a:xfrm>
            <a:off x="843424" y="2175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Montserrat" pitchFamily="34" charset="0"/>
              </a:rPr>
              <a:t>Intro</a:t>
            </a:r>
            <a:endParaRPr lang="en-US" sz="2200" dirty="0">
              <a:solidFill>
                <a:schemeClr val="bg2">
                  <a:lumMod val="25000"/>
                </a:schemeClr>
              </a:solidFill>
              <a:latin typeface="Montserrat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CC37E37-2DB8-33FD-0A93-B0D5011BD6A9}"/>
              </a:ext>
            </a:extLst>
          </p:cNvPr>
          <p:cNvSpPr/>
          <p:nvPr/>
        </p:nvSpPr>
        <p:spPr>
          <a:xfrm>
            <a:off x="865629" y="250733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>
                    <a:lumMod val="25000"/>
                  </a:schemeClr>
                </a:solidFill>
                <a:latin typeface="Heebo Light" pitchFamily="34" charset="0"/>
                <a:cs typeface="Heebo Light" pitchFamily="34" charset="-120"/>
              </a:rPr>
              <a:t>About me, and this project</a:t>
            </a:r>
          </a:p>
        </p:txBody>
      </p:sp>
    </p:spTree>
    <p:extLst>
      <p:ext uri="{BB962C8B-B14F-4D97-AF65-F5344CB8AC3E}">
        <p14:creationId xmlns:p14="http://schemas.microsoft.com/office/powerpoint/2010/main" val="356749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FBC2-C158-4E3F-D896-25B6167D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65E77-CA6C-F153-695C-2ACB71ECD151}"/>
              </a:ext>
            </a:extLst>
          </p:cNvPr>
          <p:cNvSpPr/>
          <p:nvPr/>
        </p:nvSpPr>
        <p:spPr>
          <a:xfrm>
            <a:off x="532532" y="60850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and Motives: 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56A0A8-E71D-5F14-4569-E290DEA2D132}"/>
              </a:ext>
            </a:extLst>
          </p:cNvPr>
          <p:cNvSpPr/>
          <p:nvPr/>
        </p:nvSpPr>
        <p:spPr>
          <a:xfrm>
            <a:off x="793790" y="4351496"/>
            <a:ext cx="3520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163754-83ED-C2A9-245A-34BA60443AC7}"/>
              </a:ext>
            </a:extLst>
          </p:cNvPr>
          <p:cNvSpPr/>
          <p:nvPr/>
        </p:nvSpPr>
        <p:spPr>
          <a:xfrm>
            <a:off x="793790" y="493264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Smart home devices are always listening, sending your data elsewhere to be processed. I’d rather do that locally on my own terms. 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359E58-81B9-CE5F-1BDC-B02A62D12E9A}"/>
              </a:ext>
            </a:extLst>
          </p:cNvPr>
          <p:cNvSpPr/>
          <p:nvPr/>
        </p:nvSpPr>
        <p:spPr>
          <a:xfrm>
            <a:off x="10176233" y="4350395"/>
            <a:ext cx="3047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Un-intuitive interactions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810113-D832-1DF8-A109-7520598DE3D2}"/>
              </a:ext>
            </a:extLst>
          </p:cNvPr>
          <p:cNvSpPr/>
          <p:nvPr/>
        </p:nvSpPr>
        <p:spPr>
          <a:xfrm>
            <a:off x="10176233" y="4922194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After OpenAI showcased ChatGPT, I was intrigued by doing some sort of engineering project with a local LLM.  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9E2562-769F-D59D-E160-DFFE2CC2E12F}"/>
              </a:ext>
            </a:extLst>
          </p:cNvPr>
          <p:cNvSpPr/>
          <p:nvPr/>
        </p:nvSpPr>
        <p:spPr>
          <a:xfrm>
            <a:off x="5511083" y="4350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Interaction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1943C0-6F14-3302-EF18-9DEAA61DAD54}"/>
              </a:ext>
            </a:extLst>
          </p:cNvPr>
          <p:cNvSpPr/>
          <p:nvPr/>
        </p:nvSpPr>
        <p:spPr>
          <a:xfrm>
            <a:off x="5511083" y="493153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Natural language control is often lacking. This limits accessibility. Telling your smart home your needs should feel natural, and conversational. 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6625E0-73EC-B028-C8A3-03CA856BA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0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1851-66CA-DA66-6F70-CC8B0F1F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23D8D22-2BF8-155A-03D2-802BFBC8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73801DB-A196-B6AB-81FB-1CF854949823}"/>
              </a:ext>
            </a:extLst>
          </p:cNvPr>
          <p:cNvSpPr/>
          <p:nvPr/>
        </p:nvSpPr>
        <p:spPr>
          <a:xfrm>
            <a:off x="793790" y="7212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</a:rPr>
              <a:t>Agenda :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9E9C971-D385-72F3-0DD8-457416080328}"/>
              </a:ext>
            </a:extLst>
          </p:cNvPr>
          <p:cNvSpPr/>
          <p:nvPr/>
        </p:nvSpPr>
        <p:spPr>
          <a:xfrm>
            <a:off x="793790" y="318777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C59265-21A8-C47E-E9F9-E6ADFE152206}"/>
              </a:ext>
            </a:extLst>
          </p:cNvPr>
          <p:cNvSpPr/>
          <p:nvPr/>
        </p:nvSpPr>
        <p:spPr>
          <a:xfrm>
            <a:off x="1303973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DCD7E5"/>
                </a:solidFill>
                <a:latin typeface="Montserrat" pitchFamily="34" charset="0"/>
              </a:rPr>
              <a:t>Problem statement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7AD800B-97A8-39FC-7CD4-C817C4E58FED}"/>
              </a:ext>
            </a:extLst>
          </p:cNvPr>
          <p:cNvSpPr/>
          <p:nvPr/>
        </p:nvSpPr>
        <p:spPr>
          <a:xfrm>
            <a:off x="1326178" y="3519367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And Solution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34AB27C-CABA-AACD-7429-F488A9A06EB0}"/>
              </a:ext>
            </a:extLst>
          </p:cNvPr>
          <p:cNvSpPr/>
          <p:nvPr/>
        </p:nvSpPr>
        <p:spPr>
          <a:xfrm>
            <a:off x="1133951" y="426791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2DE566-25D7-D57A-DCE6-DABA227E8A39}"/>
              </a:ext>
            </a:extLst>
          </p:cNvPr>
          <p:cNvSpPr/>
          <p:nvPr/>
        </p:nvSpPr>
        <p:spPr>
          <a:xfrm>
            <a:off x="1644134" y="4267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</a:rPr>
              <a:t>Block Diagram and Demo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BF5713-E6B1-4DA4-81D1-81A362B5D8D7}"/>
              </a:ext>
            </a:extLst>
          </p:cNvPr>
          <p:cNvSpPr/>
          <p:nvPr/>
        </p:nvSpPr>
        <p:spPr>
          <a:xfrm>
            <a:off x="1644134" y="464721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Initial Design &amp; Current status</a:t>
            </a:r>
            <a:endParaRPr lang="en-US" sz="17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190A646-40EB-EA06-04E3-D978C3A99280}"/>
              </a:ext>
            </a:extLst>
          </p:cNvPr>
          <p:cNvSpPr/>
          <p:nvPr/>
        </p:nvSpPr>
        <p:spPr>
          <a:xfrm>
            <a:off x="1474232" y="534804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BD32D6A-8EA8-3213-95AC-9E148221E60B}"/>
              </a:ext>
            </a:extLst>
          </p:cNvPr>
          <p:cNvSpPr/>
          <p:nvPr/>
        </p:nvSpPr>
        <p:spPr>
          <a:xfrm>
            <a:off x="1984415" y="534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91CE918-D022-159C-F858-35B489F3884D}"/>
              </a:ext>
            </a:extLst>
          </p:cNvPr>
          <p:cNvSpPr/>
          <p:nvPr/>
        </p:nvSpPr>
        <p:spPr>
          <a:xfrm>
            <a:off x="1984415" y="566773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Hands-free control</a:t>
            </a:r>
            <a:endParaRPr lang="en-US" sz="17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B086678-CCD8-8367-71D1-ABD4CADABBCE}"/>
              </a:ext>
            </a:extLst>
          </p:cNvPr>
          <p:cNvSpPr/>
          <p:nvPr/>
        </p:nvSpPr>
        <p:spPr>
          <a:xfrm>
            <a:off x="1814513" y="642818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50928A6-1CD3-81FA-4B9B-BE40F51A066D}"/>
              </a:ext>
            </a:extLst>
          </p:cNvPr>
          <p:cNvSpPr/>
          <p:nvPr/>
        </p:nvSpPr>
        <p:spPr>
          <a:xfrm>
            <a:off x="2324695" y="6428184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Plans 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EB8B1B4-388A-DB46-9126-A204B6AE4654}"/>
              </a:ext>
            </a:extLst>
          </p:cNvPr>
          <p:cNvSpPr/>
          <p:nvPr/>
        </p:nvSpPr>
        <p:spPr>
          <a:xfrm>
            <a:off x="2324695" y="6737151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capabilities </a:t>
            </a:r>
            <a:endParaRPr lang="en-US" sz="175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92BDA4D-4FB7-3BC9-1A78-502F9FC196C9}"/>
              </a:ext>
            </a:extLst>
          </p:cNvPr>
          <p:cNvSpPr/>
          <p:nvPr/>
        </p:nvSpPr>
        <p:spPr>
          <a:xfrm>
            <a:off x="333241" y="217574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8530B67-E394-EC49-38B1-CA32E4229DB5}"/>
              </a:ext>
            </a:extLst>
          </p:cNvPr>
          <p:cNvSpPr/>
          <p:nvPr/>
        </p:nvSpPr>
        <p:spPr>
          <a:xfrm>
            <a:off x="843424" y="2175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Montserrat" pitchFamily="34" charset="0"/>
              </a:rPr>
              <a:t>Intro</a:t>
            </a:r>
            <a:endParaRPr lang="en-US" sz="2200" dirty="0">
              <a:solidFill>
                <a:schemeClr val="bg2">
                  <a:lumMod val="25000"/>
                </a:schemeClr>
              </a:solidFill>
              <a:latin typeface="Montserrat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153767F0-C170-A9EC-3B13-9D1A504EA227}"/>
              </a:ext>
            </a:extLst>
          </p:cNvPr>
          <p:cNvSpPr/>
          <p:nvPr/>
        </p:nvSpPr>
        <p:spPr>
          <a:xfrm>
            <a:off x="865629" y="250733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>
                    <a:lumMod val="25000"/>
                  </a:schemeClr>
                </a:solidFill>
                <a:latin typeface="Heebo Light" pitchFamily="34" charset="0"/>
                <a:cs typeface="Heebo Light" pitchFamily="34" charset="-120"/>
              </a:rPr>
              <a:t>About me, and this project</a:t>
            </a:r>
          </a:p>
        </p:txBody>
      </p:sp>
    </p:spTree>
    <p:extLst>
      <p:ext uri="{BB962C8B-B14F-4D97-AF65-F5344CB8AC3E}">
        <p14:creationId xmlns:p14="http://schemas.microsoft.com/office/powerpoint/2010/main" val="52107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3669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wanted to use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1496"/>
            <a:ext cx="3520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Ecosystems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Smart home devices operate in silos. This makes unified control difficult.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351496"/>
            <a:ext cx="3047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Unintuitive Interfaces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93264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Controlling devices requires multiple apps. This is not user-friendly.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351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Interaction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93264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Natural language control is often lacking. This limits accessibility.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BF2110-F6C1-2377-12B0-338A3137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913090"/>
            <a:ext cx="76645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Lumi: Your Conversational AI Assistant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6135" y="2788682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6634" y="2867858"/>
            <a:ext cx="114419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913007" y="2788682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Conversational AI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13007" y="3245644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Lumi offers an intuitive way to manage your smart home.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6135" y="4032885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3773" y="4112062"/>
            <a:ext cx="180142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6913007" y="4032885"/>
            <a:ext cx="390548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Processing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913007" y="4489847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 devices with simple voice commands.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26135" y="527708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4487" y="5356265"/>
            <a:ext cx="178832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6913007" y="527708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Deployment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913007" y="5734050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Privacy is paramount; processing occurs locally.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26135" y="6521291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9128" y="6600468"/>
            <a:ext cx="209550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6913007" y="6521291"/>
            <a:ext cx="278558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6913007" y="6978253"/>
            <a:ext cx="697765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Works with your existing smart devices.</a:t>
            </a:r>
            <a:endParaRPr lang="en-US" sz="16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4D5A791-166B-D41E-246A-1FCB38BCB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409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Architecture: The Brains Behind Lumi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2320052"/>
            <a:ext cx="1104424" cy="1325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91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Ollama + Gemma 2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47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Powers natural language understanding.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3" y="3645337"/>
            <a:ext cx="1104424" cy="1325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3866198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Backend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343757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Handles command processing.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73" y="4970621"/>
            <a:ext cx="1104424" cy="1325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5191482"/>
            <a:ext cx="316980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ESP32 Microcontrollers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5669042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 device control.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073" y="6295906"/>
            <a:ext cx="1104424" cy="1325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08728" y="651676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WebSocket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208728" y="6994327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Allows real-time communication.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84332"/>
            <a:ext cx="12378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Features: Simplifying Your Smart Home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23327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027063"/>
            <a:ext cx="36821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Control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517481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 devices with voice or text.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523327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6027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Monitoring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517481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Get real-time status updates.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523327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6027063"/>
            <a:ext cx="2903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Management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517481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 devices in zones.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57D626-654A-679F-2010-B33F975368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05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438" y="2812494"/>
            <a:ext cx="9650849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Details: How Lumi Works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03770" y="3665339"/>
            <a:ext cx="22860" cy="4056936"/>
          </a:xfrm>
          <a:prstGeom prst="roundRect">
            <a:avLst>
              <a:gd name="adj" fmla="val 338821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6485156" y="4068723"/>
            <a:ext cx="645438" cy="22860"/>
          </a:xfrm>
          <a:prstGeom prst="roundRect">
            <a:avLst>
              <a:gd name="adj" fmla="val 338821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7107734" y="3872746"/>
            <a:ext cx="414933" cy="41493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5253" y="3941921"/>
            <a:ext cx="9989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3995857" y="384964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LLM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5438" y="4248388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Ensures privacy and reliability.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99806" y="4990624"/>
            <a:ext cx="645438" cy="22860"/>
          </a:xfrm>
          <a:prstGeom prst="roundRect">
            <a:avLst>
              <a:gd name="adj" fmla="val 338821"/>
            </a:avLst>
          </a:prstGeom>
          <a:solidFill>
            <a:srgbClr val="4A2C85"/>
          </a:solidFill>
          <a:ln/>
        </p:spPr>
      </p:sp>
      <p:sp>
        <p:nvSpPr>
          <p:cNvPr id="11" name="Shape 8"/>
          <p:cNvSpPr/>
          <p:nvPr/>
        </p:nvSpPr>
        <p:spPr>
          <a:xfrm>
            <a:off x="7107734" y="4794647"/>
            <a:ext cx="414933" cy="41493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6559" y="4863822"/>
            <a:ext cx="157163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8329374" y="4771549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 Server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29374" y="5170289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Processes commands.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85156" y="5820370"/>
            <a:ext cx="645438" cy="22860"/>
          </a:xfrm>
          <a:prstGeom prst="roundRect">
            <a:avLst>
              <a:gd name="adj" fmla="val 338821"/>
            </a:avLst>
          </a:prstGeom>
          <a:solidFill>
            <a:srgbClr val="4A2C85"/>
          </a:solidFill>
          <a:ln/>
        </p:spPr>
      </p:sp>
      <p:sp>
        <p:nvSpPr>
          <p:cNvPr id="16" name="Shape 13"/>
          <p:cNvSpPr/>
          <p:nvPr/>
        </p:nvSpPr>
        <p:spPr>
          <a:xfrm>
            <a:off x="7107734" y="5624393"/>
            <a:ext cx="414933" cy="41493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7155" y="5693569"/>
            <a:ext cx="156091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3762137" y="5601295"/>
            <a:ext cx="253888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Management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5438" y="6000036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Remembers past interactions.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499806" y="6650236"/>
            <a:ext cx="645438" cy="22860"/>
          </a:xfrm>
          <a:prstGeom prst="roundRect">
            <a:avLst>
              <a:gd name="adj" fmla="val 338821"/>
            </a:avLst>
          </a:prstGeom>
          <a:solidFill>
            <a:srgbClr val="4A2C85"/>
          </a:solidFill>
          <a:ln/>
        </p:spPr>
      </p:sp>
      <p:sp>
        <p:nvSpPr>
          <p:cNvPr id="21" name="Shape 18"/>
          <p:cNvSpPr/>
          <p:nvPr/>
        </p:nvSpPr>
        <p:spPr>
          <a:xfrm>
            <a:off x="7107734" y="6454259"/>
            <a:ext cx="414933" cy="414933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00" y="6523434"/>
            <a:ext cx="182880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8329374" y="643116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Polling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329374" y="6829901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Tracks device status.</a:t>
            </a:r>
            <a:endParaRPr lang="en-US" sz="14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778948-0804-C1AB-55CD-5DAE50B9F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88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Lumi in Action: See the Magic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611047"/>
            <a:ext cx="3002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Interactions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10146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"Turn on the living room lights."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611047"/>
            <a:ext cx="31455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Scenarios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1014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Automatically dim lights at sunset.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Interface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337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 and intuitive to use.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26378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&amp; Solutions: Overcoming Hurdles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25629" y="4269343"/>
            <a:ext cx="3353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Communication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Error Handling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9878" y="4194453"/>
            <a:ext cx="10239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3042999"/>
            <a:ext cx="3121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Management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Conversation Tracking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9485" y="3243382"/>
            <a:ext cx="16097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Parsing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Structured AI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4187" y="5969556"/>
            <a:ext cx="15990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C7AB5F-36EB-F4D0-3EBE-ECAFF29DD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1213" y="7600861"/>
            <a:ext cx="1891794" cy="523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582</Words>
  <Application>Microsoft Office PowerPoint</Application>
  <PresentationFormat>Custom</PresentationFormat>
  <Paragraphs>143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Heebo Light</vt:lpstr>
      <vt:lpstr>Heebo Medium</vt:lpstr>
      <vt:lpstr>Montserrat</vt:lpstr>
      <vt:lpstr>Arial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Landin Olandese</cp:lastModifiedBy>
  <cp:revision>2</cp:revision>
  <dcterms:created xsi:type="dcterms:W3CDTF">2025-03-03T00:15:35Z</dcterms:created>
  <dcterms:modified xsi:type="dcterms:W3CDTF">2025-03-04T23:56:47Z</dcterms:modified>
</cp:coreProperties>
</file>